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3.jpg" ContentType="image/jpg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12" r:id="rId5"/>
    <p:sldId id="324" r:id="rId6"/>
    <p:sldId id="256" r:id="rId7"/>
    <p:sldId id="325" r:id="rId8"/>
    <p:sldId id="279" r:id="rId9"/>
    <p:sldId id="280" r:id="rId10"/>
    <p:sldId id="268" r:id="rId11"/>
    <p:sldId id="326" r:id="rId12"/>
    <p:sldId id="271" r:id="rId13"/>
    <p:sldId id="273" r:id="rId14"/>
    <p:sldId id="327" r:id="rId15"/>
    <p:sldId id="328" r:id="rId16"/>
    <p:sldId id="281" r:id="rId17"/>
    <p:sldId id="282" r:id="rId18"/>
    <p:sldId id="284" r:id="rId19"/>
    <p:sldId id="329" r:id="rId20"/>
    <p:sldId id="330" r:id="rId21"/>
    <p:sldId id="331" r:id="rId22"/>
    <p:sldId id="332" r:id="rId23"/>
    <p:sldId id="333" r:id="rId24"/>
    <p:sldId id="278" r:id="rId25"/>
    <p:sldId id="335" r:id="rId26"/>
    <p:sldId id="336" r:id="rId27"/>
    <p:sldId id="339" r:id="rId28"/>
    <p:sldId id="276" r:id="rId29"/>
    <p:sldId id="277" r:id="rId30"/>
    <p:sldId id="29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784" autoAdjust="0"/>
  </p:normalViewPr>
  <p:slideViewPr>
    <p:cSldViewPr snapToGrid="0" showGuides="1">
      <p:cViewPr varScale="1">
        <p:scale>
          <a:sx n="67" d="100"/>
          <a:sy n="67" d="100"/>
        </p:scale>
        <p:origin x="644" y="4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11/28/2025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3" name="Title 1" title="Title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  <a:prstGeom prst="rect">
            <a:avLst/>
          </a:prstGeo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40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  <a:prstGeom prst="rect">
            <a:avLst/>
          </a:prstGeo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  <a:prstGeom prst="rect">
            <a:avLst/>
          </a:prstGeo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12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  <a:prstGeom prst="rect">
            <a:avLst/>
          </a:prstGeo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85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  <a:prstGeom prst="rect">
            <a:avLst/>
          </a:prstGeo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8653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1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899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055364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5058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4" r:id="rId26"/>
    <p:sldLayoutId id="2147483725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b@mail.com" TargetMode="External"/><Relationship Id="rId2" Type="http://schemas.openxmlformats.org/officeDocument/2006/relationships/hyperlink" Target="mailto:a@mail.com" TargetMode="Externa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logy-signals.com/introductory-content-blocks/d0f39c-24772-rising-to-the-challenge-8-real-life-customer-solutions/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oftware-testing-service-762486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E40DD3-2941-CFBA-BC10-25A32E82A661}"/>
              </a:ext>
            </a:extLst>
          </p:cNvPr>
          <p:cNvSpPr txBox="1"/>
          <p:nvPr/>
        </p:nvSpPr>
        <p:spPr>
          <a:xfrm>
            <a:off x="2724150" y="2444652"/>
            <a:ext cx="8305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       </a:t>
            </a:r>
          </a:p>
          <a:p>
            <a:r>
              <a:rPr lang="en-US" sz="4000" b="1" dirty="0">
                <a:latin typeface="Century Schoolbook" panose="02040604050505020304" pitchFamily="18" charset="0"/>
              </a:rPr>
              <a:t>   Mini Project Seminar </a:t>
            </a:r>
          </a:p>
          <a:p>
            <a:r>
              <a:rPr lang="en-US" sz="5400" b="1" dirty="0">
                <a:latin typeface="Century Schoolbook" panose="02040604050505020304" pitchFamily="18" charset="0"/>
              </a:rPr>
              <a:t>			On</a:t>
            </a:r>
          </a:p>
          <a:p>
            <a:endParaRPr lang="en-US" sz="5400" b="1" dirty="0">
              <a:latin typeface="Century Schoolbook" panose="02040604050505020304" pitchFamily="18" charset="0"/>
            </a:endParaRPr>
          </a:p>
          <a:p>
            <a:r>
              <a:rPr lang="en-US" sz="5400" b="1" dirty="0">
                <a:latin typeface="Century Schoolbook" panose="02040604050505020304" pitchFamily="18" charset="0"/>
              </a:rPr>
              <a:t>      </a:t>
            </a:r>
            <a:r>
              <a:rPr lang="en-US" sz="5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E-Gadget Hub</a:t>
            </a:r>
            <a:endParaRPr lang="en-IN" sz="54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0D9EA-71CC-DA8B-AC32-EDC691DFD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05" y="176575"/>
            <a:ext cx="5660589" cy="293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F608-D316-4ECF-BB7D-AB1F5AA7C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India International Textile Machinery Exhibitions Society ...">
            <a:extLst>
              <a:ext uri="{FF2B5EF4-FFF2-40B4-BE49-F238E27FC236}">
                <a16:creationId xmlns:a16="http://schemas.microsoft.com/office/drawing/2014/main" id="{B4B5022E-56FC-42DA-8B8C-50358B0DF8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097" y="457199"/>
            <a:ext cx="4048125" cy="13705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608300-E144-478E-9A07-2DA214B83334}"/>
              </a:ext>
            </a:extLst>
          </p:cNvPr>
          <p:cNvSpPr/>
          <p:nvPr/>
        </p:nvSpPr>
        <p:spPr>
          <a:xfrm>
            <a:off x="1735696" y="1566074"/>
            <a:ext cx="78845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                                    TEXTILE AND ENGINEERING INSTITUTE, ICHALKARANJI </a:t>
            </a:r>
          </a:p>
          <a:p>
            <a:r>
              <a:rPr lang="en-US" sz="1600" b="1" dirty="0"/>
              <a:t>                                         (AN EMPOWERED AUTONOUMOUS INSTITUTE)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7DA56-EFBF-47A1-83E7-DB4AB2A71BEB}"/>
              </a:ext>
            </a:extLst>
          </p:cNvPr>
          <p:cNvSpPr/>
          <p:nvPr/>
        </p:nvSpPr>
        <p:spPr>
          <a:xfrm>
            <a:off x="2700338" y="2260431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Internal Guide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Prof.Mrs.S.S.Tambire Mam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Name of Guide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Prof.Mrs.S.S.Tambire Mam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Assistant  Professor</a:t>
            </a:r>
          </a:p>
          <a:p>
            <a:pPr algn="ctr"/>
            <a:r>
              <a:rPr lang="en-SG"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C1A6A6-9554-4695-93D2-6448BFC0C3ED}"/>
              </a:ext>
            </a:extLst>
          </p:cNvPr>
          <p:cNvSpPr/>
          <p:nvPr/>
        </p:nvSpPr>
        <p:spPr>
          <a:xfrm>
            <a:off x="2814638" y="5109463"/>
            <a:ext cx="74152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Sakshi Shivaji Kamble			23UCS051</a:t>
            </a:r>
          </a:p>
          <a:p>
            <a:r>
              <a:rPr lang="en-US" sz="2000" dirty="0">
                <a:solidFill>
                  <a:schemeClr val="accent4"/>
                </a:solidFill>
              </a:rPr>
              <a:t>Sakshi Sukhadev Kamble			23UCS052</a:t>
            </a:r>
          </a:p>
          <a:p>
            <a:r>
              <a:rPr lang="en-US" sz="2000" dirty="0">
                <a:solidFill>
                  <a:schemeClr val="accent4"/>
                </a:solidFill>
              </a:rPr>
              <a:t>Sonali Basppa Kotagond	                                23UCS066</a:t>
            </a:r>
          </a:p>
        </p:txBody>
      </p:sp>
    </p:spTree>
    <p:extLst>
      <p:ext uri="{BB962C8B-B14F-4D97-AF65-F5344CB8AC3E}">
        <p14:creationId xmlns:p14="http://schemas.microsoft.com/office/powerpoint/2010/main" val="373537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104" y="1452021"/>
            <a:ext cx="4853573" cy="1616252"/>
          </a:xfrm>
        </p:spPr>
        <p:txBody>
          <a:bodyPr>
            <a:normAutofit/>
            <a:scene3d>
              <a:camera prst="isometricRightUp"/>
              <a:lightRig rig="threePt" dir="t"/>
            </a:scene3d>
          </a:bodyPr>
          <a:lstStyle/>
          <a:p>
            <a:r>
              <a:rPr lang="en-US" sz="6000" dirty="0"/>
              <a:t>E-Gadget Hub</a:t>
            </a:r>
          </a:p>
        </p:txBody>
      </p:sp>
      <p:pic>
        <p:nvPicPr>
          <p:cNvPr id="10" name="Picture Placeholder 16">
            <a:extLst>
              <a:ext uri="{FF2B5EF4-FFF2-40B4-BE49-F238E27FC236}">
                <a16:creationId xmlns:a16="http://schemas.microsoft.com/office/drawing/2014/main" id="{20A2A0D4-64BE-C4D4-3409-BA44F058EA1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7231" r="7231"/>
          <a:stretch>
            <a:fillRect/>
          </a:stretch>
        </p:blipFill>
        <p:spPr>
          <a:xfrm>
            <a:off x="6766561" y="0"/>
            <a:ext cx="4955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639" y="195861"/>
            <a:ext cx="4600223" cy="73282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78042" y="1240773"/>
            <a:ext cx="7965460" cy="2501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spc="-20" dirty="0">
                <a:latin typeface="Cambria"/>
                <a:cs typeface="Cambria"/>
              </a:rPr>
              <a:t>Electronics</a:t>
            </a:r>
            <a:r>
              <a:rPr lang="en-US" sz="2400" spc="4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waste,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spc="-20" dirty="0">
                <a:latin typeface="Cambria"/>
                <a:cs typeface="Cambria"/>
              </a:rPr>
              <a:t>commonly</a:t>
            </a:r>
            <a:r>
              <a:rPr lang="en-US" sz="2400" spc="20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known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as</a:t>
            </a:r>
            <a:r>
              <a:rPr lang="en-US" sz="2400" spc="-80" dirty="0">
                <a:latin typeface="Cambria"/>
                <a:cs typeface="Cambria"/>
              </a:rPr>
              <a:t> </a:t>
            </a:r>
            <a:r>
              <a:rPr lang="en-US" sz="2400" spc="-45" dirty="0">
                <a:latin typeface="Cambria"/>
                <a:cs typeface="Cambria"/>
              </a:rPr>
              <a:t>e-</a:t>
            </a:r>
            <a:r>
              <a:rPr lang="en-US" sz="2400" dirty="0">
                <a:latin typeface="Cambria"/>
                <a:cs typeface="Cambria"/>
              </a:rPr>
              <a:t>scrap</a:t>
            </a:r>
            <a:r>
              <a:rPr lang="en-US" sz="2400" spc="-3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or</a:t>
            </a:r>
            <a:r>
              <a:rPr lang="en-US" sz="2400" spc="-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e</a:t>
            </a:r>
            <a:r>
              <a:rPr lang="en-US" sz="2400" spc="-80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waste,</a:t>
            </a:r>
            <a:r>
              <a:rPr lang="en-US" sz="2400" spc="-20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is </a:t>
            </a:r>
            <a:r>
              <a:rPr lang="en-US" sz="2400" dirty="0">
                <a:latin typeface="Cambria"/>
                <a:cs typeface="Cambria"/>
              </a:rPr>
              <a:t>the</a:t>
            </a:r>
            <a:r>
              <a:rPr lang="en-US" sz="2400" spc="1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trash</a:t>
            </a:r>
            <a:r>
              <a:rPr lang="en-US" sz="2400" spc="20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we</a:t>
            </a:r>
            <a:r>
              <a:rPr lang="en-US" sz="2400" spc="16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generate</a:t>
            </a:r>
            <a:r>
              <a:rPr lang="en-US" sz="2400" spc="204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from</a:t>
            </a:r>
            <a:r>
              <a:rPr lang="en-US" sz="2400" spc="22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surplus,</a:t>
            </a:r>
            <a:r>
              <a:rPr lang="en-US" sz="2400" spc="26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broken,</a:t>
            </a:r>
            <a:r>
              <a:rPr lang="en-US" sz="2400" spc="26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and</a:t>
            </a:r>
            <a:r>
              <a:rPr lang="en-US" sz="2400" spc="20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obsolete </a:t>
            </a:r>
            <a:r>
              <a:rPr lang="en-US" sz="2400" dirty="0">
                <a:latin typeface="Cambria"/>
                <a:cs typeface="Cambria"/>
              </a:rPr>
              <a:t>electronic</a:t>
            </a:r>
            <a:r>
              <a:rPr lang="en-US" sz="2400" spc="3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devices.</a:t>
            </a:r>
            <a:r>
              <a:rPr lang="en-US" sz="2400" spc="36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Electronics</a:t>
            </a:r>
            <a:r>
              <a:rPr lang="en-US" sz="2400" spc="37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contains</a:t>
            </a:r>
            <a:r>
              <a:rPr lang="en-US" sz="2400" spc="3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various</a:t>
            </a:r>
            <a:r>
              <a:rPr lang="en-US" sz="2400" spc="3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toxic</a:t>
            </a:r>
            <a:r>
              <a:rPr lang="en-US" sz="2400" spc="285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and </a:t>
            </a:r>
            <a:r>
              <a:rPr lang="en-US" sz="2400" dirty="0">
                <a:latin typeface="Cambria"/>
                <a:cs typeface="Cambria"/>
              </a:rPr>
              <a:t>hazardous</a:t>
            </a:r>
            <a:r>
              <a:rPr lang="en-US" sz="2400" spc="42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chemicals</a:t>
            </a:r>
            <a:r>
              <a:rPr lang="en-US" sz="2400" spc="45" dirty="0">
                <a:latin typeface="Cambria"/>
                <a:cs typeface="Cambria"/>
              </a:rPr>
              <a:t>  </a:t>
            </a:r>
            <a:r>
              <a:rPr lang="en-US" sz="2400" dirty="0">
                <a:latin typeface="Cambria"/>
                <a:cs typeface="Cambria"/>
              </a:rPr>
              <a:t>and</a:t>
            </a:r>
            <a:r>
              <a:rPr lang="en-US" sz="2400" spc="34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materials</a:t>
            </a:r>
            <a:r>
              <a:rPr lang="en-US" sz="2400" spc="48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that</a:t>
            </a:r>
            <a:r>
              <a:rPr lang="en-US" sz="2400" spc="43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are</a:t>
            </a:r>
            <a:r>
              <a:rPr lang="en-US" sz="2400" spc="3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released</a:t>
            </a:r>
            <a:r>
              <a:rPr lang="en-US" sz="2400" spc="430" dirty="0">
                <a:latin typeface="Cambria"/>
                <a:cs typeface="Cambria"/>
              </a:rPr>
              <a:t> </a:t>
            </a:r>
            <a:r>
              <a:rPr lang="en-US" sz="2400" spc="-20" dirty="0">
                <a:latin typeface="Cambria"/>
                <a:cs typeface="Cambria"/>
              </a:rPr>
              <a:t>into </a:t>
            </a:r>
            <a:r>
              <a:rPr lang="en-US" sz="2400" dirty="0">
                <a:latin typeface="Cambria"/>
                <a:cs typeface="Cambria"/>
              </a:rPr>
              <a:t>the</a:t>
            </a:r>
            <a:r>
              <a:rPr lang="en-US" sz="2400" spc="5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environment</a:t>
            </a:r>
            <a:r>
              <a:rPr lang="en-US" sz="2400" spc="22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if</a:t>
            </a:r>
            <a:r>
              <a:rPr lang="en-US" sz="2400" spc="6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we</a:t>
            </a:r>
            <a:r>
              <a:rPr lang="en-US" sz="2400" spc="5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do</a:t>
            </a:r>
            <a:r>
              <a:rPr lang="en-US" sz="2400" spc="2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not</a:t>
            </a:r>
            <a:r>
              <a:rPr lang="en-US" sz="2400" spc="7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dispose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of</a:t>
            </a:r>
            <a:r>
              <a:rPr lang="en-US" sz="2400" spc="6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them</a:t>
            </a:r>
            <a:r>
              <a:rPr lang="en-US" sz="2400" spc="5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properly.</a:t>
            </a:r>
            <a:r>
              <a:rPr lang="en-US" sz="2400" spc="150" dirty="0">
                <a:latin typeface="Cambria"/>
                <a:cs typeface="Cambria"/>
              </a:rPr>
              <a:t> </a:t>
            </a:r>
            <a:r>
              <a:rPr lang="en-US" sz="2400" spc="-25" dirty="0">
                <a:latin typeface="Cambria"/>
                <a:cs typeface="Cambria"/>
              </a:rPr>
              <a:t>E- </a:t>
            </a:r>
            <a:r>
              <a:rPr lang="en-US" sz="2400" dirty="0">
                <a:latin typeface="Cambria"/>
                <a:cs typeface="Cambria"/>
              </a:rPr>
              <a:t>waste</a:t>
            </a:r>
            <a:r>
              <a:rPr lang="en-US" sz="2400" spc="19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or</a:t>
            </a:r>
            <a:r>
              <a:rPr lang="en-US" sz="2400" spc="13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electronics</a:t>
            </a:r>
            <a:r>
              <a:rPr lang="en-US" sz="2400" spc="3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recycling</a:t>
            </a:r>
            <a:r>
              <a:rPr lang="en-US" sz="2400" spc="229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is</a:t>
            </a:r>
            <a:r>
              <a:rPr lang="en-US" sz="2400" spc="12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the</a:t>
            </a:r>
            <a:r>
              <a:rPr lang="en-US" sz="2400" spc="13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process</a:t>
            </a:r>
            <a:r>
              <a:rPr lang="en-US" sz="2400" spc="2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of</a:t>
            </a:r>
            <a:r>
              <a:rPr lang="en-US" sz="2400" spc="15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recovering materials form old devices to use in new products.</a:t>
            </a:r>
            <a:endParaRPr lang="en-US" sz="2400" dirty="0">
              <a:latin typeface="Cambria"/>
              <a:cs typeface="Cambria"/>
            </a:endParaRPr>
          </a:p>
          <a:p>
            <a:endParaRPr lang="en-US" sz="24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629E0AA-D987-4163-B8B4-6D5D7125600A}"/>
              </a:ext>
            </a:extLst>
          </p:cNvPr>
          <p:cNvSpPr txBox="1">
            <a:spLocks/>
          </p:cNvSpPr>
          <p:nvPr/>
        </p:nvSpPr>
        <p:spPr>
          <a:xfrm>
            <a:off x="2869808" y="3688553"/>
            <a:ext cx="8556218" cy="2501233"/>
          </a:xfrm>
          <a:prstGeom prst="rect">
            <a:avLst/>
          </a:prstGeom>
        </p:spPr>
        <p:txBody>
          <a:bodyPr vert="horz" lIns="91440" tIns="0" rIns="91440" bIns="0" rtlCol="0">
            <a:normAutofit fontScale="925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4940">
              <a:spcBef>
                <a:spcPts val="130"/>
              </a:spcBef>
            </a:pPr>
            <a:endParaRPr lang="en-US" sz="2000" dirty="0">
              <a:latin typeface="Cambria"/>
              <a:cs typeface="Cambria"/>
            </a:endParaRPr>
          </a:p>
          <a:p>
            <a:pPr marL="219710" marR="17145" indent="-207645" algn="just">
              <a:lnSpc>
                <a:spcPts val="2290"/>
              </a:lnSpc>
              <a:spcBef>
                <a:spcPts val="2520"/>
              </a:spcBef>
              <a:tabLst>
                <a:tab pos="219710" algn="l"/>
                <a:tab pos="224790" algn="l"/>
              </a:tabLst>
            </a:pPr>
            <a:r>
              <a:rPr lang="en-US" dirty="0">
                <a:solidFill>
                  <a:srgbClr val="676767"/>
                </a:solidFill>
                <a:latin typeface="Cambria"/>
                <a:cs typeface="Cambria"/>
              </a:rPr>
              <a:t>	</a:t>
            </a:r>
            <a:r>
              <a:rPr lang="en-US" dirty="0">
                <a:latin typeface="Cambria"/>
                <a:cs typeface="Cambria"/>
              </a:rPr>
              <a:t>Electronic</a:t>
            </a:r>
            <a:r>
              <a:rPr lang="en-US" spc="21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waste</a:t>
            </a:r>
            <a:r>
              <a:rPr lang="en-US" spc="15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or</a:t>
            </a:r>
            <a:r>
              <a:rPr lang="en-US" spc="110" dirty="0">
                <a:latin typeface="Cambria"/>
                <a:cs typeface="Cambria"/>
              </a:rPr>
              <a:t>  </a:t>
            </a:r>
            <a:r>
              <a:rPr lang="en-US" spc="-40" dirty="0">
                <a:latin typeface="Cambria"/>
                <a:cs typeface="Cambria"/>
              </a:rPr>
              <a:t>E-</a:t>
            </a:r>
            <a:r>
              <a:rPr lang="en-US" dirty="0">
                <a:latin typeface="Cambria"/>
                <a:cs typeface="Cambria"/>
              </a:rPr>
              <a:t>waste</a:t>
            </a:r>
            <a:r>
              <a:rPr lang="en-US" spc="18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12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any</a:t>
            </a:r>
            <a:r>
              <a:rPr lang="en-US" spc="10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broken</a:t>
            </a:r>
            <a:r>
              <a:rPr lang="en-US" spc="14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or</a:t>
            </a:r>
            <a:r>
              <a:rPr lang="en-US" spc="135" dirty="0">
                <a:latin typeface="Cambria"/>
                <a:cs typeface="Cambria"/>
              </a:rPr>
              <a:t>  </a:t>
            </a:r>
            <a:r>
              <a:rPr lang="en-US" spc="-10" dirty="0">
                <a:latin typeface="Cambria"/>
                <a:cs typeface="Cambria"/>
              </a:rPr>
              <a:t>unwanted </a:t>
            </a:r>
            <a:r>
              <a:rPr lang="en-US" spc="-20" dirty="0">
                <a:latin typeface="Cambria"/>
                <a:cs typeface="Cambria"/>
              </a:rPr>
              <a:t>electrical</a:t>
            </a:r>
            <a:r>
              <a:rPr lang="en-US" spc="-7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or</a:t>
            </a:r>
            <a:r>
              <a:rPr lang="en-US" spc="-11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electronic</a:t>
            </a:r>
            <a:r>
              <a:rPr lang="en-US" spc="3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appliance.</a:t>
            </a:r>
            <a:endParaRPr lang="en-US" dirty="0">
              <a:latin typeface="Cambria"/>
              <a:cs typeface="Cambria"/>
            </a:endParaRPr>
          </a:p>
          <a:p>
            <a:pPr marL="219710" marR="5080" indent="-207645" algn="just">
              <a:lnSpc>
                <a:spcPct val="94600"/>
              </a:lnSpc>
              <a:spcBef>
                <a:spcPts val="195"/>
              </a:spcBef>
              <a:tabLst>
                <a:tab pos="219710" algn="l"/>
                <a:tab pos="224790" algn="l"/>
              </a:tabLst>
            </a:pPr>
            <a:r>
              <a:rPr lang="en-US" dirty="0">
                <a:solidFill>
                  <a:srgbClr val="696969"/>
                </a:solidFill>
                <a:latin typeface="Cambria"/>
                <a:cs typeface="Cambria"/>
              </a:rPr>
              <a:t>	</a:t>
            </a:r>
            <a:r>
              <a:rPr lang="en-US" spc="-40" dirty="0">
                <a:latin typeface="Cambria"/>
                <a:cs typeface="Cambria"/>
              </a:rPr>
              <a:t>E-</a:t>
            </a:r>
            <a:r>
              <a:rPr lang="en-US" dirty="0">
                <a:latin typeface="Cambria"/>
                <a:cs typeface="Cambria"/>
              </a:rPr>
              <a:t>waste</a:t>
            </a:r>
            <a:r>
              <a:rPr lang="en-US" spc="38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includes</a:t>
            </a:r>
            <a:r>
              <a:rPr lang="en-US" spc="3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computers,</a:t>
            </a:r>
            <a:r>
              <a:rPr lang="en-US" spc="42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consumer</a:t>
            </a:r>
            <a:r>
              <a:rPr lang="en-US" spc="39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electronics,</a:t>
            </a:r>
            <a:r>
              <a:rPr lang="en-US" spc="41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phones, </a:t>
            </a:r>
            <a:r>
              <a:rPr lang="en-US" dirty="0">
                <a:latin typeface="Cambria"/>
                <a:cs typeface="Cambria"/>
              </a:rPr>
              <a:t>medical</a:t>
            </a:r>
            <a:r>
              <a:rPr lang="en-US" spc="6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equipment's,</a:t>
            </a:r>
            <a:r>
              <a:rPr lang="en-US" spc="14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toys</a:t>
            </a:r>
            <a:r>
              <a:rPr lang="en-US" spc="5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and</a:t>
            </a:r>
            <a:r>
              <a:rPr lang="en-US" spc="43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other</a:t>
            </a:r>
            <a:r>
              <a:rPr lang="en-US" spc="495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items</a:t>
            </a:r>
            <a:r>
              <a:rPr lang="en-US" spc="6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that</a:t>
            </a:r>
            <a:r>
              <a:rPr lang="en-US" spc="6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have</a:t>
            </a:r>
            <a:r>
              <a:rPr lang="en-US" spc="450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been </a:t>
            </a:r>
            <a:r>
              <a:rPr lang="en-US" spc="-25" dirty="0">
                <a:latin typeface="Cambria"/>
                <a:cs typeface="Cambria"/>
              </a:rPr>
              <a:t>discarded</a:t>
            </a:r>
            <a:r>
              <a:rPr lang="en-US" spc="-1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by</a:t>
            </a:r>
            <a:r>
              <a:rPr lang="en-US" spc="-7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their</a:t>
            </a:r>
            <a:r>
              <a:rPr lang="en-US" spc="-7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original</a:t>
            </a:r>
            <a:r>
              <a:rPr lang="en-US" spc="-30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users.</a:t>
            </a:r>
            <a:endParaRPr lang="en-US" dirty="0">
              <a:latin typeface="Cambria"/>
              <a:cs typeface="Cambria"/>
            </a:endParaRPr>
          </a:p>
          <a:p>
            <a:pPr marL="222885" marR="13335" indent="-210820" algn="just">
              <a:lnSpc>
                <a:spcPts val="2250"/>
              </a:lnSpc>
              <a:spcBef>
                <a:spcPts val="325"/>
              </a:spcBef>
              <a:tabLst>
                <a:tab pos="222885" algn="l"/>
                <a:tab pos="276860" algn="l"/>
              </a:tabLst>
            </a:pPr>
            <a:r>
              <a:rPr lang="en-US" dirty="0">
                <a:solidFill>
                  <a:srgbClr val="696969"/>
                </a:solidFill>
                <a:latin typeface="Cambria"/>
                <a:cs typeface="Cambria"/>
              </a:rPr>
              <a:t>	</a:t>
            </a:r>
            <a:r>
              <a:rPr lang="en-US" spc="-30" dirty="0">
                <a:latin typeface="Cambria"/>
                <a:cs typeface="Cambria"/>
              </a:rPr>
              <a:t>E-</a:t>
            </a:r>
            <a:r>
              <a:rPr lang="en-US" dirty="0">
                <a:latin typeface="Cambria"/>
                <a:cs typeface="Cambria"/>
              </a:rPr>
              <a:t>waste</a:t>
            </a:r>
            <a:r>
              <a:rPr lang="en-US" spc="28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also</a:t>
            </a:r>
            <a:r>
              <a:rPr lang="en-US" spc="24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include</a:t>
            </a:r>
            <a:r>
              <a:rPr lang="en-US" spc="26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waste</a:t>
            </a:r>
            <a:r>
              <a:rPr lang="en-US" spc="26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which</a:t>
            </a:r>
            <a:r>
              <a:rPr lang="en-US" spc="280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is</a:t>
            </a:r>
            <a:r>
              <a:rPr lang="en-US" spc="195" dirty="0">
                <a:latin typeface="Cambria"/>
                <a:cs typeface="Cambria"/>
              </a:rPr>
              <a:t>  </a:t>
            </a:r>
            <a:r>
              <a:rPr lang="en-US" dirty="0">
                <a:latin typeface="Cambria"/>
                <a:cs typeface="Cambria"/>
              </a:rPr>
              <a:t>generated</a:t>
            </a:r>
            <a:r>
              <a:rPr lang="en-US" spc="285" dirty="0">
                <a:latin typeface="Cambria"/>
                <a:cs typeface="Cambria"/>
              </a:rPr>
              <a:t>  </a:t>
            </a:r>
            <a:r>
              <a:rPr lang="en-US" spc="-10" dirty="0">
                <a:latin typeface="Cambria"/>
                <a:cs typeface="Cambria"/>
              </a:rPr>
              <a:t>during manufacturing</a:t>
            </a:r>
            <a:r>
              <a:rPr lang="en-US" spc="17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or</a:t>
            </a:r>
            <a:r>
              <a:rPr lang="en-US" spc="-100" dirty="0">
                <a:latin typeface="Cambria"/>
                <a:cs typeface="Cambria"/>
              </a:rPr>
              <a:t> </a:t>
            </a:r>
            <a:r>
              <a:rPr lang="en-US" spc="-20" dirty="0">
                <a:latin typeface="Cambria"/>
                <a:cs typeface="Cambria"/>
              </a:rPr>
              <a:t>assembling</a:t>
            </a:r>
            <a:r>
              <a:rPr lang="en-US" spc="5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of</a:t>
            </a:r>
            <a:r>
              <a:rPr lang="en-US" spc="-40" dirty="0">
                <a:latin typeface="Cambria"/>
                <a:cs typeface="Cambria"/>
              </a:rPr>
              <a:t> </a:t>
            </a:r>
            <a:r>
              <a:rPr lang="en-US" dirty="0">
                <a:latin typeface="Cambria"/>
                <a:cs typeface="Cambria"/>
              </a:rPr>
              <a:t>such</a:t>
            </a:r>
            <a:r>
              <a:rPr lang="en-US" spc="-65" dirty="0">
                <a:latin typeface="Cambria"/>
                <a:cs typeface="Cambria"/>
              </a:rPr>
              <a:t> </a:t>
            </a:r>
            <a:r>
              <a:rPr lang="en-US" spc="-10" dirty="0">
                <a:latin typeface="Cambria"/>
                <a:cs typeface="Cambria"/>
              </a:rPr>
              <a:t>equipment's.</a:t>
            </a:r>
            <a:endParaRPr lang="en-US" dirty="0">
              <a:latin typeface="Cambria"/>
              <a:cs typeface="Cambria"/>
            </a:endParaRPr>
          </a:p>
          <a:p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E3A2139-E737-4A4F-95E1-592BF15C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7083"/>
            <a:ext cx="2530917" cy="253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408" y="1325853"/>
            <a:ext cx="8504416" cy="668410"/>
          </a:xfrm>
        </p:spPr>
        <p:txBody>
          <a:bodyPr/>
          <a:lstStyle/>
          <a:p>
            <a:r>
              <a:rPr lang="en-US" sz="3200" dirty="0"/>
              <a:t>Problem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51562" y="2624708"/>
            <a:ext cx="7043618" cy="2233233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To Design and develop</a:t>
            </a:r>
            <a:r>
              <a:rPr lang="en-US" dirty="0"/>
              <a:t> a mobile application that enables users to locate e-waste collection centers, schedule pickups, and earn rewards for responsible disposal of electronic waste .</a:t>
            </a:r>
          </a:p>
        </p:txBody>
      </p:sp>
    </p:spTree>
    <p:extLst>
      <p:ext uri="{BB962C8B-B14F-4D97-AF65-F5344CB8AC3E}">
        <p14:creationId xmlns:p14="http://schemas.microsoft.com/office/powerpoint/2010/main" val="65799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4AE9E-01DB-4333-84E8-96A24250B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68879A-80AD-4FBE-9C34-EE7A1F8DE38E}"/>
              </a:ext>
            </a:extLst>
          </p:cNvPr>
          <p:cNvSpPr/>
          <p:nvPr/>
        </p:nvSpPr>
        <p:spPr>
          <a:xfrm>
            <a:off x="593203" y="573479"/>
            <a:ext cx="90214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sz="3200" b="1" cap="all" dirty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rPr>
              <a:t>Aim and objective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E27A8-013F-4C92-8DFD-1572C7846B70}"/>
              </a:ext>
            </a:extLst>
          </p:cNvPr>
          <p:cNvSpPr txBox="1"/>
          <p:nvPr/>
        </p:nvSpPr>
        <p:spPr>
          <a:xfrm>
            <a:off x="458979" y="1460275"/>
            <a:ext cx="1147751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Aim</a:t>
            </a:r>
            <a:r>
              <a:rPr 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 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The aim is to reduce hazardous waste impact and improve recycling efficiency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Mangal"/>
            </a:endParaRP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Mangal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/>
              <a:t> 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	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To develop a mobile app that helps users locate e-waste collection centers, schedule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pickups, and earn rewards for responsible disposal</a:t>
            </a:r>
          </a:p>
          <a:p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Awareness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Educate users about the environmental impact of e-waste and the importance of responsible disposal.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Responsible Disposal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Reward users for properly recycling their e-waste through a points or incentive system.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Convenience: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easily locate e-waste collection centers and schedule pickups through the app.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E-Waste Regulations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 users comply with local e-waste disposal laws and regulations.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and Report Impact: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track their recycling efforts and understand the environmental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benefits of their actions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38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072743" y="1325481"/>
            <a:ext cx="64617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 Increase Awareness</a:t>
            </a:r>
            <a:r>
              <a:rPr lang="en-US" dirty="0"/>
              <a:t>: Educate users about the environmental impact of e-waste and the importance of responsible disposal.</a:t>
            </a:r>
          </a:p>
          <a:p>
            <a:endParaRPr lang="en-US" dirty="0"/>
          </a:p>
          <a:p>
            <a:r>
              <a:rPr lang="en-US" b="1" dirty="0"/>
              <a:t>o Encourage Responsible Disposal</a:t>
            </a:r>
            <a:r>
              <a:rPr lang="en-US" dirty="0"/>
              <a:t>: Reward users for properly recycling their e-waste through a points or incentive system.</a:t>
            </a:r>
          </a:p>
          <a:p>
            <a:endParaRPr lang="en-US" dirty="0"/>
          </a:p>
          <a:p>
            <a:r>
              <a:rPr lang="en-US" b="1" dirty="0"/>
              <a:t>o Promote Convenience</a:t>
            </a:r>
            <a:r>
              <a:rPr lang="en-US" dirty="0"/>
              <a:t>: Allow users to easily locate e-waste collection centers and schedule pickups through the web application.</a:t>
            </a:r>
          </a:p>
          <a:p>
            <a:endParaRPr lang="en-US" dirty="0"/>
          </a:p>
          <a:p>
            <a:r>
              <a:rPr lang="en-US" b="1" dirty="0"/>
              <a:t>o Support E-Waste Regulations</a:t>
            </a:r>
            <a:r>
              <a:rPr lang="en-US" dirty="0"/>
              <a:t>: Help users comply with local e-waste disposal laws and regulations.</a:t>
            </a:r>
          </a:p>
          <a:p>
            <a:endParaRPr lang="en-US" dirty="0"/>
          </a:p>
          <a:p>
            <a:r>
              <a:rPr lang="en-US" b="1" dirty="0"/>
              <a:t>o Track and Report Impact</a:t>
            </a:r>
            <a:r>
              <a:rPr lang="en-US" dirty="0"/>
              <a:t>: Enable users to track their recycling efforts and understand the environmental benefits of their actions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454"/>
            <a:ext cx="4286848" cy="365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61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9137EA-206C-459E-9F56-37D20B65DABC}"/>
              </a:ext>
            </a:extLst>
          </p:cNvPr>
          <p:cNvSpPr/>
          <p:nvPr/>
        </p:nvSpPr>
        <p:spPr>
          <a:xfrm>
            <a:off x="247650" y="200442"/>
            <a:ext cx="11506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Existing System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Manual Collection &amp; Disposal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E-waste is usually collected informally by scrap dealers or local waste collectors.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Sorting is done manually, often without safety measures.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Unorganized Recycling Sector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 large portion of e-waste is handled by the informal sector using unsafe methods like burning, acid baths, and manual dismantling.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Leads to health risks and environmental pollution.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Lack of Tracking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 proper system to track how much e-waste is generated, collected, or recycled.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65F514-0346-4130-92A3-E8F9DF19A4AE}"/>
              </a:ext>
            </a:extLst>
          </p:cNvPr>
          <p:cNvSpPr/>
          <p:nvPr/>
        </p:nvSpPr>
        <p:spPr>
          <a:xfrm>
            <a:off x="3295650" y="3518237"/>
            <a:ext cx="88963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Proposed System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Digital E-Waste Management Platform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 centralized system to register e-waste generators (households, shops, companies) and recyclers.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Track e-waste from collection → transport → recycling.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Authorized Collection Centers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Set up official drop-off points where citizens can safely deposit old electronics.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Incentives for proper disposal (reward points, discounts, etc.).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Smart Scheduling &amp; Pickup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Users can request door-to-door pickup of e-waste via a mobile app or website.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Automated route planning for collection vehicles.</a:t>
            </a:r>
          </a:p>
        </p:txBody>
      </p:sp>
    </p:spTree>
    <p:extLst>
      <p:ext uri="{BB962C8B-B14F-4D97-AF65-F5344CB8AC3E}">
        <p14:creationId xmlns:p14="http://schemas.microsoft.com/office/powerpoint/2010/main" val="165014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207" y="0"/>
            <a:ext cx="10495129" cy="2390336"/>
          </a:xfrm>
        </p:spPr>
        <p:txBody>
          <a:bodyPr/>
          <a:lstStyle/>
          <a:p>
            <a:pPr lvl="0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Scope of the project	-</a:t>
            </a:r>
            <a:br>
              <a:rPr lang="en-US" dirty="0"/>
            </a:br>
            <a:r>
              <a:rPr lang="en-US" dirty="0"/>
              <a:t>      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2" r="7032"/>
          <a:stretch>
            <a:fillRect/>
          </a:stretch>
        </p:blipFill>
        <p:spPr>
          <a:xfrm>
            <a:off x="8989454" y="3424239"/>
            <a:ext cx="3202546" cy="3452811"/>
          </a:xfrm>
        </p:spPr>
      </p:pic>
      <p:sp>
        <p:nvSpPr>
          <p:cNvPr id="9" name="Rectangle 8"/>
          <p:cNvSpPr/>
          <p:nvPr/>
        </p:nvSpPr>
        <p:spPr>
          <a:xfrm>
            <a:off x="411050" y="1679193"/>
            <a:ext cx="9115087" cy="5064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User-Friendly Mobile Website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: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Design and develop an intuitive app interface compatible with Android and iOS platforms.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Locate Collection Centers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: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Users can view nearby authorized e-waste collection centers on an interactive map based on their location.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Pickup Scheduling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: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Users can schedule doorstep pickups for their e-waste, ensuring convenience and encouraging participation.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Reward System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: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Introduce a points-based or digital wallet system to reward users for each successful disposal.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Awareness Content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:</a:t>
            </a:r>
            <a:b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The app will include articles, tips, and notifications to educate users about the importance of e-waste recycling..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134907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B23D8-9ACE-418F-8DD6-EF7AAF2DD0D7}"/>
              </a:ext>
            </a:extLst>
          </p:cNvPr>
          <p:cNvSpPr/>
          <p:nvPr/>
        </p:nvSpPr>
        <p:spPr>
          <a:xfrm>
            <a:off x="53833" y="369777"/>
            <a:ext cx="54068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defTabSz="914400">
              <a:spcBef>
                <a:spcPct val="0"/>
              </a:spcBef>
              <a:spcAft>
                <a:spcPts val="1000"/>
              </a:spcAft>
            </a:pPr>
            <a:r>
              <a:rPr lang="en-US" sz="3600" b="1" cap="sm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Requirement Specification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847AB-52A1-4FDA-83AD-F92B40522EA2}"/>
              </a:ext>
            </a:extLst>
          </p:cNvPr>
          <p:cNvSpPr/>
          <p:nvPr/>
        </p:nvSpPr>
        <p:spPr>
          <a:xfrm>
            <a:off x="909710" y="928688"/>
            <a:ext cx="6334053" cy="5929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Functional Requirements: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User Registration and Login: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Secure sign-up and sign-in functionality using email and password.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Locate E-Waste Centers: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nearby recycling centers on a map using Google Maps API.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Pickup Scheduling: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users to request doorstep pickup with date and time slots.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Reward System: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Allocate eco-points to users for each successful recycling activity.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Admin Dashboard: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Admins can manage centers, track pickups, and analyze user engagement.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Educational Content: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Articles, tips, and notifications related to e-waste management.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Device Evaluation: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Estimate resale/recycling value based on device condition and market value.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C2CF2-7747-4E99-A17D-B52167CC50AC}"/>
              </a:ext>
            </a:extLst>
          </p:cNvPr>
          <p:cNvSpPr/>
          <p:nvPr/>
        </p:nvSpPr>
        <p:spPr>
          <a:xfrm>
            <a:off x="7786687" y="895859"/>
            <a:ext cx="3900488" cy="5323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Non-Functional Requirements: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Platform Compatibility: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 must run on both Android and iOS platforms.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Performance: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 should respond to user actions within 2 seconds.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Scalability: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 support expanding to more regions and users in the future.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Security: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data must be protected with secure authentication and HTTPS protocols.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Availability:</a:t>
            </a:r>
            <a:endParaRPr lang="en-US" sz="1400" dirty="0"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Minimum 99% uptime for hosted services and backend systems.</a:t>
            </a:r>
            <a:endParaRPr lang="en-US" sz="1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761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C1122-BE98-428D-95BE-227313C7A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1CFD5-8737-4072-94AB-47C536EABEB2}"/>
              </a:ext>
            </a:extLst>
          </p:cNvPr>
          <p:cNvSpPr/>
          <p:nvPr/>
        </p:nvSpPr>
        <p:spPr>
          <a:xfrm>
            <a:off x="465913" y="564938"/>
            <a:ext cx="54068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>
              <a:spcBef>
                <a:spcPct val="0"/>
              </a:spcBef>
              <a:spcAft>
                <a:spcPts val="1000"/>
              </a:spcAft>
            </a:pPr>
            <a:r>
              <a:rPr lang="en-US" sz="3600" b="1" cap="sm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Requirement Specification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7912B-85E0-4E5F-B04E-99326E8A0422}"/>
              </a:ext>
            </a:extLst>
          </p:cNvPr>
          <p:cNvSpPr/>
          <p:nvPr/>
        </p:nvSpPr>
        <p:spPr>
          <a:xfrm>
            <a:off x="1200150" y="1343442"/>
            <a:ext cx="5676900" cy="80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cs typeface="Mangal" panose="02040503050203030202" pitchFamily="18" charset="0"/>
              </a:rPr>
              <a:t>Software Requirements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A20D94-C0BE-49C0-9A6D-C573677E87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76312" y="1980718"/>
            <a:ext cx="6657975" cy="144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fontAlgn="base">
              <a:lnSpc>
                <a:spcPct val="115000"/>
              </a:lnSpc>
              <a:spcAft>
                <a:spcPts val="1000"/>
              </a:spcAft>
              <a:buClrTx/>
              <a:buSzTx/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Programming Language: Java, HTML and CSS</a:t>
            </a:r>
          </a:p>
          <a:p>
            <a:pPr marL="342900" indent="-342900" algn="just" fontAlgn="base">
              <a:lnSpc>
                <a:spcPct val="115000"/>
              </a:lnSpc>
              <a:spcAft>
                <a:spcPts val="1000"/>
              </a:spcAft>
              <a:buClrTx/>
              <a:buSzTx/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Database:  MySQL</a:t>
            </a:r>
          </a:p>
          <a:p>
            <a:pPr marL="342900" indent="-342900" algn="just" fontAlgn="base">
              <a:lnSpc>
                <a:spcPct val="115000"/>
              </a:lnSpc>
              <a:spcAft>
                <a:spcPts val="1000"/>
              </a:spcAft>
              <a:buClrTx/>
              <a:buSzTx/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Development Tools: Eclipse IDE</a:t>
            </a:r>
          </a:p>
          <a:p>
            <a:pPr marL="342900" indent="-342900" algn="just" fontAlgn="base">
              <a:lnSpc>
                <a:spcPct val="115000"/>
              </a:lnSpc>
              <a:spcAft>
                <a:spcPts val="1000"/>
              </a:spcAft>
              <a:buClrTx/>
              <a:buSzTx/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APIs: Google Maps API, Notification services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80624-E1B9-49D1-B0F4-15AC8759D497}"/>
              </a:ext>
            </a:extLst>
          </p:cNvPr>
          <p:cNvSpPr/>
          <p:nvPr/>
        </p:nvSpPr>
        <p:spPr>
          <a:xfrm>
            <a:off x="7386636" y="3872873"/>
            <a:ext cx="5676900" cy="803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Times New Roman" panose="02020603050405020304" pitchFamily="18" charset="0"/>
                <a:cs typeface="Mangal" panose="02040503050203030202" pitchFamily="18" charset="0"/>
              </a:rPr>
              <a:t>Hardware  Requirements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65DF559-1D27-4FCB-859E-7E731A2BE88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86636" y="3805118"/>
            <a:ext cx="5676899" cy="2625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tabLst>
                <a:tab pos="457200" algn="l"/>
              </a:tabLst>
            </a:pPr>
            <a:endParaRPr lang="en-US" altLang="en-US" sz="1400" b="1" dirty="0">
              <a:latin typeface="Times New Roman" panose="02020603050405020304" pitchFamily="18" charset="0"/>
              <a:cs typeface="Mangal" panose="02040503050203030202" pitchFamily="18" charset="0"/>
            </a:endParaRPr>
          </a:p>
          <a:p>
            <a:pPr marR="0" lvl="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tabLst>
                <a:tab pos="457200" algn="l"/>
              </a:tabLst>
            </a:pPr>
            <a:endParaRPr lang="en-US" altLang="en-US" sz="1400" b="1" dirty="0">
              <a:latin typeface="Times New Roman" panose="02020603050405020304" pitchFamily="18" charset="0"/>
              <a:cs typeface="Mangal" panose="02040503050203030202" pitchFamily="18" charset="0"/>
            </a:endParaRPr>
          </a:p>
          <a:p>
            <a:pPr marL="342900" marR="0" lvl="0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Processor: Intel i3 or higher</a:t>
            </a:r>
          </a:p>
          <a:p>
            <a:pPr marL="342900" marR="0" lvl="0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RAM: 8GB or higher</a:t>
            </a:r>
          </a:p>
          <a:p>
            <a:pPr marL="342900" marR="0" lvl="0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Storage: 100GB minimum</a:t>
            </a:r>
          </a:p>
          <a:p>
            <a:pPr marL="342900" marR="0" lvl="0" indent="-342900" algn="just" fontAlgn="base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altLang="en-US" sz="1400" b="1" dirty="0">
                <a:latin typeface="Times New Roman" panose="02020603050405020304" pitchFamily="18" charset="0"/>
                <a:cs typeface="Mangal" panose="02040503050203030202" pitchFamily="18" charset="0"/>
              </a:rPr>
              <a:t>Active internet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99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BB4E-2414-4B74-A5A3-50793D3A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94" y="158974"/>
            <a:ext cx="9879437" cy="980844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49CDD-3561-471C-9805-1C3486370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EFC29F-EDA9-490B-8661-92C816F950B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1" y="1313910"/>
            <a:ext cx="9501186" cy="50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3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BB506-4075-4E66-9FAE-DCD31A8D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5A7918-5D74-4941-80E9-5D659C502343}"/>
              </a:ext>
            </a:extLst>
          </p:cNvPr>
          <p:cNvSpPr txBox="1">
            <a:spLocks/>
          </p:cNvSpPr>
          <p:nvPr/>
        </p:nvSpPr>
        <p:spPr>
          <a:xfrm>
            <a:off x="1228540" y="-92364"/>
            <a:ext cx="5988188" cy="8538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5C941-935F-46E7-A3E5-C1562A2C77E5}"/>
              </a:ext>
            </a:extLst>
          </p:cNvPr>
          <p:cNvSpPr/>
          <p:nvPr/>
        </p:nvSpPr>
        <p:spPr>
          <a:xfrm>
            <a:off x="937863" y="1014585"/>
            <a:ext cx="4243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Algorithmic Description of Each Module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99A4F7-E31F-457C-9CA2-047ABABD1D76}"/>
              </a:ext>
            </a:extLst>
          </p:cNvPr>
          <p:cNvSpPr/>
          <p:nvPr/>
        </p:nvSpPr>
        <p:spPr>
          <a:xfrm>
            <a:off x="790850" y="1851745"/>
            <a:ext cx="4970133" cy="399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1.User Login Module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Algorithm: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Start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Prompt the user to enter username and password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Validate credentials against stored user data (e.g., in database or file)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 credentials are valid:</a:t>
            </a: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1371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 access to the system</a:t>
            </a: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1371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Redirect to the main menu/dashboard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Else:</a:t>
            </a: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1371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an error message</a:t>
            </a:r>
          </a:p>
          <a:p>
            <a:pPr marL="742950" marR="0" lvl="1" indent="-285750" algn="just">
              <a:buSzPts val="1000"/>
              <a:buFont typeface="Courier New" panose="02070309020205020404" pitchFamily="49" charset="0"/>
              <a:buChar char="o"/>
              <a:tabLst>
                <a:tab pos="13716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retry or exit option</a:t>
            </a:r>
          </a:p>
          <a:p>
            <a:pPr marL="342900" marR="0" lvl="0" indent="-342900" algn="just">
              <a:buFont typeface="+mj-lt"/>
              <a:buAutoNum type="arabicPeriod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81C17-68B7-4991-BD7A-5599DF7B3271}"/>
              </a:ext>
            </a:extLst>
          </p:cNvPr>
          <p:cNvSpPr/>
          <p:nvPr/>
        </p:nvSpPr>
        <p:spPr>
          <a:xfrm>
            <a:off x="6616651" y="1851745"/>
            <a:ext cx="480937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Registration Module</a:t>
            </a:r>
            <a:endParaRPr lang="en-US" b="1" dirty="0"/>
          </a:p>
          <a:p>
            <a:r>
              <a:rPr lang="en-US" b="1" dirty="0"/>
              <a:t>Algorithm: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Prompt user to enter required registration details (name, email, mobile, etc.)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Validate all input fields (e.g., check for empty, correct format)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If validation passes: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Store user details in the database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Generate and display a success message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Else: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Prompt the user to correct errors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98508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BB506-4075-4E66-9FAE-DCD31A8D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5A7918-5D74-4941-80E9-5D659C502343}"/>
              </a:ext>
            </a:extLst>
          </p:cNvPr>
          <p:cNvSpPr txBox="1">
            <a:spLocks/>
          </p:cNvSpPr>
          <p:nvPr/>
        </p:nvSpPr>
        <p:spPr>
          <a:xfrm>
            <a:off x="1228540" y="-92364"/>
            <a:ext cx="5988188" cy="8538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5C941-935F-46E7-A3E5-C1562A2C77E5}"/>
              </a:ext>
            </a:extLst>
          </p:cNvPr>
          <p:cNvSpPr/>
          <p:nvPr/>
        </p:nvSpPr>
        <p:spPr>
          <a:xfrm>
            <a:off x="1337913" y="889837"/>
            <a:ext cx="4243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Algorithmic Description of Each Module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99A4F7-E31F-457C-9CA2-047ABABD1D76}"/>
              </a:ext>
            </a:extLst>
          </p:cNvPr>
          <p:cNvSpPr/>
          <p:nvPr/>
        </p:nvSpPr>
        <p:spPr>
          <a:xfrm>
            <a:off x="285319" y="1751611"/>
            <a:ext cx="380090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3. Complaint Lodging Module</a:t>
            </a:r>
            <a:endParaRPr lang="en-US" b="1" dirty="0"/>
          </a:p>
          <a:p>
            <a:r>
              <a:rPr lang="en-US" b="1" dirty="0"/>
              <a:t>Algorithm: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Display form for complaint entry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User selects complaint type, enters details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Validate complaint form inputs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If inputs are valid: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Save complaint to database with status “Pending”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Generate unique complaint ID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Notify user with confirmation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Else: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Show error and request correction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3D7D7-AC47-4ECC-9165-0C105830F2A6}"/>
              </a:ext>
            </a:extLst>
          </p:cNvPr>
          <p:cNvSpPr/>
          <p:nvPr/>
        </p:nvSpPr>
        <p:spPr>
          <a:xfrm>
            <a:off x="4629147" y="1724905"/>
            <a:ext cx="39290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4. Admin Login and Complaint Management Module</a:t>
            </a:r>
            <a:endParaRPr lang="en-US" b="1" dirty="0"/>
          </a:p>
          <a:p>
            <a:r>
              <a:rPr lang="en-US" b="1" dirty="0"/>
              <a:t>Algorithm: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Prompt admin for login credentials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Validate credentials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If valid: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dashboard with complaint records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Allow admin to view, update status (e.g., In Progress, Resolved), or delete complaints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Else: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access denied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F34936-AF91-4608-BA1A-12C7CBDC3EBF}"/>
              </a:ext>
            </a:extLst>
          </p:cNvPr>
          <p:cNvSpPr/>
          <p:nvPr/>
        </p:nvSpPr>
        <p:spPr>
          <a:xfrm>
            <a:off x="9172575" y="1724905"/>
            <a:ext cx="26003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5. Report Generation Module</a:t>
            </a:r>
            <a:endParaRPr lang="en-US" b="1" dirty="0"/>
          </a:p>
          <a:p>
            <a:r>
              <a:rPr lang="en-US" b="1" dirty="0"/>
              <a:t>Algorithm: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Admin selects report type (daily, weekly, monthly, status-based, etc.)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Fetch corresponding data from the database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Format data into readable report layout (e.g., table, chart)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Display or export the report as PDF/Excel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7631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BB506-4075-4E66-9FAE-DCD31A8D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5A7918-5D74-4941-80E9-5D659C502343}"/>
              </a:ext>
            </a:extLst>
          </p:cNvPr>
          <p:cNvSpPr txBox="1">
            <a:spLocks/>
          </p:cNvSpPr>
          <p:nvPr/>
        </p:nvSpPr>
        <p:spPr>
          <a:xfrm>
            <a:off x="1228540" y="-92364"/>
            <a:ext cx="5988188" cy="8538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5C941-935F-46E7-A3E5-C1562A2C77E5}"/>
              </a:ext>
            </a:extLst>
          </p:cNvPr>
          <p:cNvSpPr/>
          <p:nvPr/>
        </p:nvSpPr>
        <p:spPr>
          <a:xfrm>
            <a:off x="1337913" y="889837"/>
            <a:ext cx="4423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c) Algorithmic Description of Each Module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73D7D7-AC47-4ECC-9165-0C105830F2A6}"/>
              </a:ext>
            </a:extLst>
          </p:cNvPr>
          <p:cNvSpPr/>
          <p:nvPr/>
        </p:nvSpPr>
        <p:spPr>
          <a:xfrm>
            <a:off x="895347" y="1951139"/>
            <a:ext cx="442307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6. Collector Login Module</a:t>
            </a:r>
          </a:p>
          <a:p>
            <a:r>
              <a:rPr lang="en-US" b="1" dirty="0"/>
              <a:t>Algorithm: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Start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Prompt collector for login credentials (username and password)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Validate credentials against the database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If valid: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collector dashboard with assigned complaints/tasks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Allow collector to: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View complaint details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Update complaint status (e.g., In Progress, Resolved)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Else: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access denied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End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F34936-AF91-4608-BA1A-12C7CBDC3EBF}"/>
              </a:ext>
            </a:extLst>
          </p:cNvPr>
          <p:cNvSpPr/>
          <p:nvPr/>
        </p:nvSpPr>
        <p:spPr>
          <a:xfrm>
            <a:off x="6873585" y="1892503"/>
            <a:ext cx="402753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7. Collector Registration Module</a:t>
            </a:r>
          </a:p>
          <a:p>
            <a:r>
              <a:rPr lang="en-US" b="1" dirty="0"/>
              <a:t>Algorithm: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Start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Admin navigates to "Collector Registration"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Admin enters new collector details (name, contact, ID,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Validate the entered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If valid: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Store collector details in the database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success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Else: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Display error message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26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7154-1FBC-40FA-AD6F-667DAE21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94" y="0"/>
            <a:ext cx="9879437" cy="638175"/>
          </a:xfrm>
        </p:spPr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1253D-34AE-49A3-9246-E30099850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F95AF-9589-41B7-8645-2D03A05FEA5B}"/>
              </a:ext>
            </a:extLst>
          </p:cNvPr>
          <p:cNvSpPr txBox="1"/>
          <p:nvPr/>
        </p:nvSpPr>
        <p:spPr>
          <a:xfrm flipH="1">
            <a:off x="1093468" y="1009650"/>
            <a:ext cx="451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 Diagram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35273-E669-4CCF-8B5A-33DCDDE9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12192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6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7154-1FBC-40FA-AD6F-667DAE21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88" y="-164876"/>
            <a:ext cx="9879437" cy="755426"/>
          </a:xfrm>
        </p:spPr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1253D-34AE-49A3-9246-E30099850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274F0-34BB-4850-8F10-0CD504CBEC7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" y="1518941"/>
            <a:ext cx="10553701" cy="5000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2BAF44-A4AA-4C60-ABDD-4D3FF872F0BA}"/>
              </a:ext>
            </a:extLst>
          </p:cNvPr>
          <p:cNvSpPr txBox="1"/>
          <p:nvPr/>
        </p:nvSpPr>
        <p:spPr>
          <a:xfrm flipH="1">
            <a:off x="911182" y="823913"/>
            <a:ext cx="451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UseCase Diagram </a:t>
            </a:r>
          </a:p>
        </p:txBody>
      </p:sp>
    </p:spTree>
    <p:extLst>
      <p:ext uri="{BB962C8B-B14F-4D97-AF65-F5344CB8AC3E}">
        <p14:creationId xmlns:p14="http://schemas.microsoft.com/office/powerpoint/2010/main" val="832162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7154-1FBC-40FA-AD6F-667DAE21A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94" y="0"/>
            <a:ext cx="9879437" cy="638175"/>
          </a:xfrm>
        </p:spPr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1253D-34AE-49A3-9246-E30099850E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F95AF-9589-41B7-8645-2D03A05FEA5B}"/>
              </a:ext>
            </a:extLst>
          </p:cNvPr>
          <p:cNvSpPr txBox="1"/>
          <p:nvPr/>
        </p:nvSpPr>
        <p:spPr>
          <a:xfrm flipH="1">
            <a:off x="1012794" y="800100"/>
            <a:ext cx="451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Sequence Diagram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47E98-1422-4DAE-8022-7790F2532D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927225"/>
            <a:ext cx="9563100" cy="413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50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7203-8155-45C6-8EAB-9784F68C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24" y="-59611"/>
            <a:ext cx="8096251" cy="714375"/>
          </a:xfrm>
        </p:spPr>
        <p:txBody>
          <a:bodyPr/>
          <a:lstStyle/>
          <a:p>
            <a:r>
              <a:rPr lang="en-US" dirty="0"/>
              <a:t>Database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51975-D431-425E-B154-320BBAF63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F943A6-0C12-4096-A766-AE0204ABF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5363"/>
              </p:ext>
            </p:extLst>
          </p:nvPr>
        </p:nvGraphicFramePr>
        <p:xfrm>
          <a:off x="1000124" y="1519237"/>
          <a:ext cx="10010778" cy="10500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8463">
                  <a:extLst>
                    <a:ext uri="{9D8B030D-6E8A-4147-A177-3AD203B41FA5}">
                      <a16:colId xmlns:a16="http://schemas.microsoft.com/office/drawing/2014/main" val="142167413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3292578938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2911561221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616717320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3848691751"/>
                    </a:ext>
                  </a:extLst>
                </a:gridCol>
                <a:gridCol w="1668463">
                  <a:extLst>
                    <a:ext uri="{9D8B030D-6E8A-4147-A177-3AD203B41FA5}">
                      <a16:colId xmlns:a16="http://schemas.microsoft.com/office/drawing/2014/main" val="437651499"/>
                    </a:ext>
                  </a:extLst>
                </a:gridCol>
              </a:tblGrid>
              <a:tr h="35001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CustomerName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PhoneNo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Password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594748"/>
                  </a:ext>
                </a:extLst>
              </a:tr>
              <a:tr h="35001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C01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a@mail.com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Pune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pass123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8973753"/>
                  </a:ext>
                </a:extLst>
              </a:tr>
              <a:tr h="350017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C02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b@mail.com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9123456789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Mumbai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pass456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58345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64E1DD-EF3B-446A-A744-160A463EB811}"/>
              </a:ext>
            </a:extLst>
          </p:cNvPr>
          <p:cNvSpPr txBox="1"/>
          <p:nvPr/>
        </p:nvSpPr>
        <p:spPr>
          <a:xfrm>
            <a:off x="905827" y="1004827"/>
            <a:ext cx="177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272CCF-A518-4C0B-8B9D-2A828447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385402"/>
              </p:ext>
            </p:extLst>
          </p:nvPr>
        </p:nvGraphicFramePr>
        <p:xfrm>
          <a:off x="1000124" y="3307953"/>
          <a:ext cx="1001078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02695">
                  <a:extLst>
                    <a:ext uri="{9D8B030D-6E8A-4147-A177-3AD203B41FA5}">
                      <a16:colId xmlns:a16="http://schemas.microsoft.com/office/drawing/2014/main" val="2146098209"/>
                    </a:ext>
                  </a:extLst>
                </a:gridCol>
                <a:gridCol w="2502695">
                  <a:extLst>
                    <a:ext uri="{9D8B030D-6E8A-4147-A177-3AD203B41FA5}">
                      <a16:colId xmlns:a16="http://schemas.microsoft.com/office/drawing/2014/main" val="4147040628"/>
                    </a:ext>
                  </a:extLst>
                </a:gridCol>
                <a:gridCol w="2502695">
                  <a:extLst>
                    <a:ext uri="{9D8B030D-6E8A-4147-A177-3AD203B41FA5}">
                      <a16:colId xmlns:a16="http://schemas.microsoft.com/office/drawing/2014/main" val="2719843929"/>
                    </a:ext>
                  </a:extLst>
                </a:gridCol>
                <a:gridCol w="2502695">
                  <a:extLst>
                    <a:ext uri="{9D8B030D-6E8A-4147-A177-3AD203B41FA5}">
                      <a16:colId xmlns:a16="http://schemas.microsoft.com/office/drawing/2014/main" val="1391358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AdminID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292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john@admin.com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4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riya@admin.com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admin456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90600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F88BF17-CEAB-4FC7-92CC-AB3FD4744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598" y="2852060"/>
            <a:ext cx="1257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5E9450-5075-433C-B7DD-72584B6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97098"/>
              </p:ext>
            </p:extLst>
          </p:nvPr>
        </p:nvGraphicFramePr>
        <p:xfrm>
          <a:off x="990599" y="5412898"/>
          <a:ext cx="10125075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5015">
                  <a:extLst>
                    <a:ext uri="{9D8B030D-6E8A-4147-A177-3AD203B41FA5}">
                      <a16:colId xmlns:a16="http://schemas.microsoft.com/office/drawing/2014/main" val="2830140414"/>
                    </a:ext>
                  </a:extLst>
                </a:gridCol>
                <a:gridCol w="2025015">
                  <a:extLst>
                    <a:ext uri="{9D8B030D-6E8A-4147-A177-3AD203B41FA5}">
                      <a16:colId xmlns:a16="http://schemas.microsoft.com/office/drawing/2014/main" val="3229955519"/>
                    </a:ext>
                  </a:extLst>
                </a:gridCol>
                <a:gridCol w="2331721">
                  <a:extLst>
                    <a:ext uri="{9D8B030D-6E8A-4147-A177-3AD203B41FA5}">
                      <a16:colId xmlns:a16="http://schemas.microsoft.com/office/drawing/2014/main" val="2129127227"/>
                    </a:ext>
                  </a:extLst>
                </a:gridCol>
                <a:gridCol w="1718309">
                  <a:extLst>
                    <a:ext uri="{9D8B030D-6E8A-4147-A177-3AD203B41FA5}">
                      <a16:colId xmlns:a16="http://schemas.microsoft.com/office/drawing/2014/main" val="2428546078"/>
                    </a:ext>
                  </a:extLst>
                </a:gridCol>
                <a:gridCol w="2025015">
                  <a:extLst>
                    <a:ext uri="{9D8B030D-6E8A-4147-A177-3AD203B41FA5}">
                      <a16:colId xmlns:a16="http://schemas.microsoft.com/office/drawing/2014/main" val="1628931192"/>
                    </a:ext>
                  </a:extLst>
                </a:gridCol>
              </a:tblGrid>
              <a:tr h="338267">
                <a:tc>
                  <a:txBody>
                    <a:bodyPr/>
                    <a:lstStyle/>
                    <a:p>
                      <a:r>
                        <a:rPr lang="en-US" dirty="0"/>
                        <a:t>CollectorID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CollectorName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CollectionPointID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244350"/>
                  </a:ext>
                </a:extLst>
              </a:tr>
              <a:tr h="338267">
                <a:tc>
                  <a:txBody>
                    <a:bodyPr/>
                    <a:lstStyle/>
                    <a:p>
                      <a:r>
                        <a:rPr lang="en-US"/>
                        <a:t>CL01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raj@collector.com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CP01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472909"/>
                  </a:ext>
                </a:extLst>
              </a:tr>
              <a:tr h="284957">
                <a:tc>
                  <a:txBody>
                    <a:bodyPr/>
                    <a:lstStyle/>
                    <a:p>
                      <a:r>
                        <a:rPr lang="en-US"/>
                        <a:t>CL02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meera@collector.com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47927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C38F4E78-C169-4341-8011-864ABAF9B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4831197"/>
            <a:ext cx="11811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38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7203-8155-45C6-8EAB-9784F68C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524" y="-59611"/>
            <a:ext cx="8096251" cy="714375"/>
          </a:xfrm>
        </p:spPr>
        <p:txBody>
          <a:bodyPr/>
          <a:lstStyle/>
          <a:p>
            <a:r>
              <a:rPr lang="en-US" dirty="0"/>
              <a:t>Database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51975-D431-425E-B154-320BBAF63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4E1DD-EF3B-446A-A744-160A463EB811}"/>
              </a:ext>
            </a:extLst>
          </p:cNvPr>
          <p:cNvSpPr txBox="1"/>
          <p:nvPr/>
        </p:nvSpPr>
        <p:spPr>
          <a:xfrm>
            <a:off x="790574" y="1014565"/>
            <a:ext cx="177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CollectionPoint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F88BF17-CEAB-4FC7-92CC-AB3FD4744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4" y="3003598"/>
            <a:ext cx="16859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EwasteRequest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38F4E78-C169-4341-8011-864ABAF9B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4" y="4853908"/>
            <a:ext cx="1181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80E1B9-F4EA-406C-9A84-EA0208CEF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074193"/>
              </p:ext>
            </p:extLst>
          </p:nvPr>
        </p:nvGraphicFramePr>
        <p:xfrm>
          <a:off x="904875" y="1491113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788074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62517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22729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7544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CollectionPointID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91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CP01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Pune-North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908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CP02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Mumbai-East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34286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CB1354-BDAF-4B7D-A7A3-05073C2A4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619125"/>
              </p:ext>
            </p:extLst>
          </p:nvPr>
        </p:nvGraphicFramePr>
        <p:xfrm>
          <a:off x="904874" y="345265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764504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96778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481996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365734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61635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RequestID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CollectorID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CollectionPointID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894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CP01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178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85226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2A3BFD9-AF3D-4562-82AF-92DBF5D37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72019"/>
              </p:ext>
            </p:extLst>
          </p:nvPr>
        </p:nvGraphicFramePr>
        <p:xfrm>
          <a:off x="904874" y="5401654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5643301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857565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01191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967230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786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InventoryID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EwasteType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CollectorID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45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742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Recyclable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09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93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1109" y="184947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Entity relationship model</a:t>
            </a:r>
          </a:p>
          <a:p>
            <a:pPr>
              <a:spcBef>
                <a:spcPct val="0"/>
              </a:spcBef>
            </a:pPr>
            <a:endParaRPr lang="en-US" sz="2000" b="1" cap="all" dirty="0">
              <a:solidFill>
                <a:schemeClr val="accent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6679"/>
            <a:ext cx="12192000" cy="585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53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563EE1-038C-4274-8462-4454878867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A859A2-86F5-41D3-BE27-859241D52E18}"/>
              </a:ext>
            </a:extLst>
          </p:cNvPr>
          <p:cNvSpPr/>
          <p:nvPr/>
        </p:nvSpPr>
        <p:spPr>
          <a:xfrm>
            <a:off x="161925" y="136525"/>
            <a:ext cx="7715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Technologies &amp; platforms used</a:t>
            </a:r>
            <a:endParaRPr lang="en-US" sz="1100" b="1" cap="all" dirty="0">
              <a:solidFill>
                <a:schemeClr val="accent6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1013B-47BC-4C2E-90BC-84FA7FCBAA93}"/>
              </a:ext>
            </a:extLst>
          </p:cNvPr>
          <p:cNvSpPr/>
          <p:nvPr/>
        </p:nvSpPr>
        <p:spPr>
          <a:xfrm>
            <a:off x="161925" y="1718012"/>
            <a:ext cx="8343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Frontend:</a:t>
            </a:r>
            <a:r>
              <a:rPr lang="en-US" sz="3200" dirty="0"/>
              <a:t> HTML, CSS, JavaScript, JSP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Backend:</a:t>
            </a:r>
            <a:r>
              <a:rPr lang="en-US" sz="3200" dirty="0"/>
              <a:t> Java (JDBC), Servlets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Database:</a:t>
            </a:r>
            <a:r>
              <a:rPr lang="en-US" sz="3200" dirty="0"/>
              <a:t> 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Tools:</a:t>
            </a:r>
            <a:r>
              <a:rPr lang="en-US" sz="3200" dirty="0"/>
              <a:t> VS Code / Eclipse 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Platform:</a:t>
            </a:r>
            <a:r>
              <a:rPr lang="en-US" sz="3200" dirty="0"/>
              <a:t> Windows/Linux, Chrome/Firefox browsers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66B6F6-CD27-481D-91F9-69CA39D3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15300" y="1"/>
            <a:ext cx="4076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46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F2CC1-FA0E-4752-9DB8-0097821BE4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2624B-F368-4280-A886-ECDC0E4DF558}"/>
              </a:ext>
            </a:extLst>
          </p:cNvPr>
          <p:cNvSpPr/>
          <p:nvPr/>
        </p:nvSpPr>
        <p:spPr>
          <a:xfrm>
            <a:off x="161925" y="136525"/>
            <a:ext cx="7715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Integration &amp; testing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48D2D8-831F-4D31-AF0B-352940314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395663"/>
              </p:ext>
            </p:extLst>
          </p:nvPr>
        </p:nvGraphicFramePr>
        <p:xfrm>
          <a:off x="161925" y="1285875"/>
          <a:ext cx="8582025" cy="48958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860675">
                  <a:extLst>
                    <a:ext uri="{9D8B030D-6E8A-4147-A177-3AD203B41FA5}">
                      <a16:colId xmlns:a16="http://schemas.microsoft.com/office/drawing/2014/main" val="3043381400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2959304621"/>
                    </a:ext>
                  </a:extLst>
                </a:gridCol>
                <a:gridCol w="2860675">
                  <a:extLst>
                    <a:ext uri="{9D8B030D-6E8A-4147-A177-3AD203B41FA5}">
                      <a16:colId xmlns:a16="http://schemas.microsoft.com/office/drawing/2014/main" val="1642064412"/>
                    </a:ext>
                  </a:extLst>
                </a:gridCol>
              </a:tblGrid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Test Case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619024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New user account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83005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Invalid login shows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860417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Locate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Centers displayed on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4135475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 dirty="0"/>
                        <a:t>TC_06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Pickup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Pickup added to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659828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Reward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Points added after disposal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823328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 views all requests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653882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r>
                        <a:rPr lang="en-US"/>
                        <a:t>TC_14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Encrypted password in 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41450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0FA0592-1E1F-4214-A935-2BC02DCE0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82075" y="0"/>
            <a:ext cx="3209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0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36BD9-02C2-4B09-BDEF-E66511268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EF47F-BA04-4E86-A4C9-263D835E5E5C}"/>
              </a:ext>
            </a:extLst>
          </p:cNvPr>
          <p:cNvSpPr/>
          <p:nvPr/>
        </p:nvSpPr>
        <p:spPr>
          <a:xfrm>
            <a:off x="2847975" y="105458"/>
            <a:ext cx="7715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Output screen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D7C46-7FE8-41CC-98E3-3A5A9770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4" y="1168399"/>
            <a:ext cx="9648825" cy="571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B212-B9CF-9F50-135D-E1B2A8E0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D3EC-4F6F-0CAB-4AFC-D7DC89343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689292"/>
            <a:ext cx="10511627" cy="394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well-managed e-waste system ensures responsible disposal, minimizes environmental impact, and promotes recycling efficiency. The system streamlines collection, transportation, and processing to create a sustainable and eco-friendly waste management process.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0C589-4E2D-F163-4D5D-1D3BBCFDB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2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5117-4968-CE26-B481-7CE24DEB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5E35-5D9D-106E-3378-EADD623F8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71F1871F-7710-682A-9A03-8847C90C9867}"/>
              </a:ext>
            </a:extLst>
          </p:cNvPr>
          <p:cNvPicPr>
            <a:picLocks noGrp="1"/>
          </p:cNvPicPr>
          <p:nvPr>
            <p:ph sz="quarter" idx="4"/>
          </p:nvPr>
        </p:nvPicPr>
        <p:blipFill>
          <a:blip r:embed="rId2" cstate="print"/>
          <a:stretch>
            <a:fillRect/>
          </a:stretch>
        </p:blipFill>
        <p:spPr>
          <a:xfrm>
            <a:off x="4231481" y="3099594"/>
            <a:ext cx="3876675" cy="2381250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7F358C3B-A7A8-4421-8838-6E3D262657C2}"/>
              </a:ext>
            </a:extLst>
          </p:cNvPr>
          <p:cNvSpPr txBox="1"/>
          <p:nvPr/>
        </p:nvSpPr>
        <p:spPr>
          <a:xfrm>
            <a:off x="5404054" y="2575758"/>
            <a:ext cx="105473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35" dirty="0">
                <a:latin typeface="Cambria"/>
                <a:cs typeface="Cambria"/>
              </a:rPr>
              <a:t>Reduce</a:t>
            </a:r>
            <a:endParaRPr sz="2650" dirty="0">
              <a:latin typeface="Cambria"/>
              <a:cs typeface="Cambri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5A85C7B8-707F-E33B-26A6-ABEBD95355E1}"/>
              </a:ext>
            </a:extLst>
          </p:cNvPr>
          <p:cNvSpPr txBox="1"/>
          <p:nvPr/>
        </p:nvSpPr>
        <p:spPr>
          <a:xfrm>
            <a:off x="2435291" y="4079584"/>
            <a:ext cx="1351834" cy="421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35" dirty="0">
                <a:latin typeface="Cambria"/>
                <a:cs typeface="Cambria"/>
              </a:rPr>
              <a:t>Re</a:t>
            </a:r>
            <a:r>
              <a:rPr lang="en-US" sz="2650" spc="-35" dirty="0">
                <a:latin typeface="Cambria"/>
                <a:cs typeface="Cambria"/>
              </a:rPr>
              <a:t>cover</a:t>
            </a:r>
            <a:endParaRPr sz="2650" dirty="0">
              <a:latin typeface="Cambria"/>
              <a:cs typeface="Cambria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CE93271-C7CC-BC54-4BF2-80AA3DE68E9F}"/>
              </a:ext>
            </a:extLst>
          </p:cNvPr>
          <p:cNvSpPr txBox="1"/>
          <p:nvPr/>
        </p:nvSpPr>
        <p:spPr>
          <a:xfrm>
            <a:off x="8480047" y="4079584"/>
            <a:ext cx="1054735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35" dirty="0">
                <a:latin typeface="Cambria"/>
                <a:cs typeface="Cambria"/>
              </a:rPr>
              <a:t>Re</a:t>
            </a:r>
            <a:r>
              <a:rPr lang="en-US" sz="2650" spc="-35" dirty="0">
                <a:latin typeface="Cambria"/>
                <a:cs typeface="Cambria"/>
              </a:rPr>
              <a:t>use</a:t>
            </a:r>
            <a:endParaRPr sz="2650" dirty="0">
              <a:latin typeface="Cambria"/>
              <a:cs typeface="Cambria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9BDDA1-F761-98D7-1ED4-BE4FA3982773}"/>
              </a:ext>
            </a:extLst>
          </p:cNvPr>
          <p:cNvSpPr txBox="1"/>
          <p:nvPr/>
        </p:nvSpPr>
        <p:spPr>
          <a:xfrm>
            <a:off x="5568632" y="5804096"/>
            <a:ext cx="1298699" cy="421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35" dirty="0">
                <a:latin typeface="Cambria"/>
                <a:cs typeface="Cambria"/>
              </a:rPr>
              <a:t>Re</a:t>
            </a:r>
            <a:r>
              <a:rPr lang="en-US" sz="2650" spc="-35" dirty="0">
                <a:latin typeface="Cambria"/>
                <a:cs typeface="Cambria"/>
              </a:rPr>
              <a:t>cycle</a:t>
            </a:r>
            <a:endParaRPr sz="265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32929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0A0D613-116F-D40D-D26E-D7A0AB705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93" y="2320397"/>
            <a:ext cx="5449941" cy="306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951641_Hexagon presentation light_AAS_v4" id="{358289A0-A26B-433F-AD2B-1F8832C96153}" vid="{92CDC91D-95BF-4897-87D6-494563DF79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0A5AF1-8C57-4290-936E-5FD27C9572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8919DE-9BD9-47A9-9F5D-16EBB96879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7F4215-C6BB-44A3-9A5E-9446E6835900}">
  <ds:schemaRefs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0</TotalTime>
  <Words>1725</Words>
  <Application>Microsoft Office PowerPoint</Application>
  <PresentationFormat>Widescreen</PresentationFormat>
  <Paragraphs>365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Cambria</vt:lpstr>
      <vt:lpstr>Century Schoolbook</vt:lpstr>
      <vt:lpstr>CiscoSans ExtraLight</vt:lpstr>
      <vt:lpstr>Courier New</vt:lpstr>
      <vt:lpstr>Gill Sans SemiBold</vt:lpstr>
      <vt:lpstr>Mangal</vt:lpstr>
      <vt:lpstr>Times New Roman</vt:lpstr>
      <vt:lpstr>Office Theme</vt:lpstr>
      <vt:lpstr>PowerPoint Presentation</vt:lpstr>
      <vt:lpstr>PowerPoint Presentation</vt:lpstr>
      <vt:lpstr>E-Gadget Hub</vt:lpstr>
      <vt:lpstr>Introduction</vt:lpstr>
      <vt:lpstr>Problem definition</vt:lpstr>
      <vt:lpstr>PowerPoint Presentation</vt:lpstr>
      <vt:lpstr>PowerPoint Presentation</vt:lpstr>
      <vt:lpstr>PowerPoint Presentation</vt:lpstr>
      <vt:lpstr>    Scope of the project -        </vt:lpstr>
      <vt:lpstr>PowerPoint Presentation</vt:lpstr>
      <vt:lpstr>PowerPoint Presentation</vt:lpstr>
      <vt:lpstr>SYSTEM ARCHITECTURE</vt:lpstr>
      <vt:lpstr>PowerPoint Presentation</vt:lpstr>
      <vt:lpstr>PowerPoint Presentation</vt:lpstr>
      <vt:lpstr>PowerPoint Presentation</vt:lpstr>
      <vt:lpstr>UML Diagrams</vt:lpstr>
      <vt:lpstr>UML Diagrams</vt:lpstr>
      <vt:lpstr>UML Diagrams</vt:lpstr>
      <vt:lpstr>Database Tables</vt:lpstr>
      <vt:lpstr>Database Tables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2025-09-30T22:53:17Z</dcterms:created>
  <dcterms:modified xsi:type="dcterms:W3CDTF">2025-11-28T04:07:09Z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